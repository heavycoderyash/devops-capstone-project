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embeddedFontLst>
    <p:embeddedFont>
      <p:font typeface="JetBrains Mono" panose="02000009000000000000" pitchFamily="49" charset="0"/>
      <p:regular r:id="rId18"/>
      <p:bold r:id="rId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font" Target="fonts/font1.fntdata"/><Relationship Id="rId19"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MediSlot is the vehicle; the real subject is the end-to-end DevOps pipeline that takes it to production on AWS.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Responsive React UI, FastAPI backend with Swagger docs, four seeded doctors via migration 0002.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Terraform provisions the VPC and EKS; Prometheus scrapes /metrics via a ServiceMonitor and Grafana visualises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layer is a separate folder in the repo: backend, frontend, terraform, helm,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Images are pushed only from main, never from PRs. Deploy uses --rollback-on-failure.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 token is least-privilege: packages:write only in build, id-token:write only in deploy.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Region ap-southeast-2. c7i-flex.large chosen because Free plan accounts reject t3.medium.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values-dev.yaml and values-prod.yaml; rehearsed locally on kind before EKS.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Alerts: backend down, error rate above 5%, p95 above 1s. Custom metrics: bookings per specialty, status changes, booking conflicts.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lab case ships the kubectl commands that find the cause plus the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 = 22 backend pytest + 6 frontend unit tests. Thank you;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25760"/>
          </a:xfrm>
          <a:prstGeom prst="rect">
            <a:avLst/>
          </a:prstGeom>
          <a:noFill/>
          <a:ln/>
        </p:spPr>
        <p:txBody>
          <a:bodyPr wrap="square" lIns="0" tIns="0" rIns="0" bIns="0" rtlCol="0" anchor="t"/>
          <a:lstStyle>
            <a:lvl1pPr algn="l" indent="0" marL="0">
              <a:lnSpc>
                <a:spcPct val="115000"/>
              </a:lnSpc>
              <a:buNone/>
              <a:defRPr lang="en-US" sz="3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43360"/>
            <a:ext cx="10566400" cy="440184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25760"/>
          </a:xfrm>
          <a:prstGeom prst="rect">
            <a:avLst/>
          </a:prstGeom>
          <a:noFill/>
          <a:ln/>
        </p:spPr>
        <p:txBody>
          <a:bodyPr wrap="square" lIns="0" tIns="0" rIns="0" bIns="0" rtlCol="0" anchor="t"/>
          <a:lstStyle>
            <a:lvl1pPr algn="l" indent="0" marL="0">
              <a:lnSpc>
                <a:spcPct val="115000"/>
              </a:lnSpc>
              <a:buNone/>
              <a:defRPr lang="en-US" sz="3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43360"/>
            <a:ext cx="10566400" cy="440184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1918345"/>
            <a:ext cx="10883392" cy="309860"/>
          </a:xfrm>
          <a:prstGeom prst="rect">
            <a:avLst/>
          </a:prstGeom>
          <a:noFill/>
          <a:ln/>
        </p:spPr>
        <p:txBody>
          <a:bodyPr wrap="square" lIns="0" tIns="0" rIns="0" bIns="0" rtlCol="0" anchor="t">
            <a:normAutofit/>
          </a:bodyPr>
          <a:lstStyle/>
          <a:p>
            <a:pPr algn="l" indent="0" marL="0">
              <a:lnSpc>
                <a:spcPts val="2240"/>
              </a:lnSpc>
              <a:buNone/>
            </a:pPr>
            <a:r>
              <a:rPr lang="en-US" sz="1600" spc="100" kern="0" dirty="0">
                <a:solidFill>
                  <a:srgbClr val="F2A65A"/>
                </a:solidFill>
                <a:latin typeface="JetBrains Mono" pitchFamily="49" charset="0"/>
                <a:ea typeface="JetBrains Mono" pitchFamily="49" charset="-122"/>
                <a:cs typeface="JetBrains Mono" pitchFamily="49" charset="-120"/>
              </a:rPr>
              <a:t>DEVOPS CAPSTONE PROJECT</a:t>
            </a:r>
            <a:endParaRPr lang="en-US" sz="1600" dirty="0"/>
          </a:p>
        </p:txBody>
      </p:sp>
      <p:sp>
        <p:nvSpPr>
          <p:cNvPr id="3" name="Text 1"/>
          <p:cNvSpPr/>
          <p:nvPr>
            <p:ph type="title"/>
          </p:nvPr>
        </p:nvSpPr>
        <p:spPr>
          <a:xfrm>
            <a:off x="812800" y="2456805"/>
            <a:ext cx="10883392" cy="958850"/>
          </a:xfrm>
          <a:prstGeom prst="rect">
            <a:avLst/>
          </a:prstGeom>
          <a:noFill/>
          <a:ln/>
        </p:spPr>
        <p:txBody>
          <a:bodyPr wrap="square" lIns="0" tIns="0" rIns="0" bIns="0" rtlCol="0" anchor="t">
            <a:normAutofit/>
          </a:bodyPr>
          <a:lstStyle/>
          <a:p>
            <a:pPr algn="l" indent="0" marL="0">
              <a:lnSpc>
                <a:spcPts val="7350"/>
              </a:lnSpc>
              <a:buNone/>
            </a:pPr>
            <a:r>
              <a:rPr lang="en-US" sz="7000" b="1" i="0" dirty="0">
                <a:solidFill>
                  <a:srgbClr val="F4F5F0"/>
                </a:solidFill>
                <a:latin typeface="IBM Plex Sans" pitchFamily="34" charset="0"/>
                <a:ea typeface="IBM Plex Sans" pitchFamily="34" charset="-122"/>
                <a:cs typeface="IBM Plex Sans" pitchFamily="34" charset="-120"/>
              </a:rPr>
              <a:t>MediSlot</a:t>
            </a:r>
            <a:endParaRPr lang="en-US" sz="7000" dirty="0"/>
          </a:p>
        </p:txBody>
      </p:sp>
      <p:sp>
        <p:nvSpPr>
          <p:cNvPr id="4" name="Text 2"/>
          <p:cNvSpPr/>
          <p:nvPr/>
        </p:nvSpPr>
        <p:spPr>
          <a:xfrm>
            <a:off x="812800" y="3644255"/>
            <a:ext cx="9156700" cy="817860"/>
          </a:xfrm>
          <a:prstGeom prst="rect">
            <a:avLst/>
          </a:prstGeom>
          <a:noFill/>
          <a:ln/>
        </p:spPr>
        <p:txBody>
          <a:bodyPr wrap="square" lIns="0" tIns="0" rIns="0" bIns="0" rtlCol="0" anchor="t">
            <a:normAutofit/>
          </a:bodyPr>
          <a:lstStyle/>
          <a:p>
            <a:pPr algn="l" indent="0" marL="0">
              <a:lnSpc>
                <a:spcPts val="3120"/>
              </a:lnSpc>
              <a:buNone/>
            </a:pPr>
            <a:r>
              <a:rPr lang="en-US" sz="2400" dirty="0">
                <a:solidFill>
                  <a:srgbClr val="C9D3E3"/>
                </a:solidFill>
                <a:latin typeface="IBM Plex Sans" pitchFamily="34" charset="0"/>
                <a:ea typeface="IBM Plex Sans" pitchFamily="34" charset="-122"/>
                <a:cs typeface="IBM Plex Sans" pitchFamily="34" charset="-120"/>
              </a:rPr>
              <a:t>A clinic appointment app shipped from laptop to a monitored, autoscaling Kubernetes cluster on AWS</a:t>
            </a:r>
            <a:endParaRPr lang="en-US" sz="2400" dirty="0"/>
          </a:p>
        </p:txBody>
      </p:sp>
      <p:sp>
        <p:nvSpPr>
          <p:cNvPr id="5" name="Text 3"/>
          <p:cNvSpPr/>
          <p:nvPr/>
        </p:nvSpPr>
        <p:spPr>
          <a:xfrm>
            <a:off x="812800" y="4690715"/>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AA8C0"/>
                </a:solidFill>
                <a:latin typeface="JetBrains Mono" pitchFamily="49" charset="0"/>
                <a:ea typeface="JetBrains Mono" pitchFamily="49" charset="-122"/>
                <a:cs typeface="JetBrains Mono" pitchFamily="49" charset="-120"/>
              </a:rPr>
              <a:t>FastAPI · React · PostgreSQL · GitHub Actions · Terraform · EKS · Helm · Prometheus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5F0"/>
        </a:solidFill>
      </p:bgPr>
    </p:bg>
    <p:spTree>
      <p:nvGrpSpPr>
        <p:cNvPr id="1" name=""/>
        <p:cNvGrpSpPr/>
        <p:nvPr/>
      </p:nvGrpSpPr>
      <p:grpSpPr>
        <a:xfrm>
          <a:off x="0" y="0"/>
          <a:ext cx="0" cy="0"/>
          <a:chOff x="0" y="0"/>
          <a:chExt cx="0" cy="0"/>
        </a:xfrm>
      </p:grpSpPr>
      <p:sp>
        <p:nvSpPr>
          <p:cNvPr id="2" name="Text 0"/>
          <p:cNvSpPr/>
          <p:nvPr/>
        </p:nvSpPr>
        <p:spPr>
          <a:xfrm>
            <a:off x="812800" y="1517700"/>
            <a:ext cx="5206238"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85C1E"/>
                </a:solidFill>
                <a:latin typeface="JetBrains Mono" pitchFamily="49" charset="0"/>
                <a:ea typeface="JetBrains Mono" pitchFamily="49" charset="-122"/>
                <a:cs typeface="JetBrains Mono" pitchFamily="49" charset="-120"/>
              </a:rPr>
              <a:t>THE APPLICATION</a:t>
            </a:r>
            <a:endParaRPr lang="en-US" sz="1300" dirty="0"/>
          </a:p>
        </p:txBody>
      </p:sp>
      <p:sp>
        <p:nvSpPr>
          <p:cNvPr id="3" name="Text 1"/>
          <p:cNvSpPr/>
          <p:nvPr>
            <p:ph type="title"/>
          </p:nvPr>
        </p:nvSpPr>
        <p:spPr>
          <a:xfrm>
            <a:off x="812800" y="1952030"/>
            <a:ext cx="5206238" cy="153407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Clinic scheduling that refuses double-bookings</a:t>
            </a:r>
            <a:endParaRPr lang="en-US" sz="3600" dirty="0"/>
          </a:p>
        </p:txBody>
      </p:sp>
      <p:sp>
        <p:nvSpPr>
          <p:cNvPr id="4" name="Text 2"/>
          <p:cNvSpPr/>
          <p:nvPr/>
        </p:nvSpPr>
        <p:spPr>
          <a:xfrm>
            <a:off x="812800" y="3663900"/>
            <a:ext cx="5206238" cy="90929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4A5568"/>
                </a:solidFill>
                <a:latin typeface="IBM Plex Sans" pitchFamily="34" charset="0"/>
                <a:ea typeface="IBM Plex Sans" pitchFamily="34" charset="-122"/>
                <a:cs typeface="IBM Plex Sans" pitchFamily="34" charset="-120"/>
              </a:rPr>
              <a:t>Front-desk staff manage doctors and book appointments. Each visit moves Scheduled → Checked in → Completed, or Cancelled.</a:t>
            </a:r>
            <a:endParaRPr lang="en-US" sz="1600" dirty="0"/>
          </a:p>
        </p:txBody>
      </p:sp>
      <p:sp>
        <p:nvSpPr>
          <p:cNvPr id="5" name="Text 3"/>
          <p:cNvSpPr/>
          <p:nvPr/>
        </p:nvSpPr>
        <p:spPr>
          <a:xfrm>
            <a:off x="812800" y="4750991"/>
            <a:ext cx="5206238" cy="61466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4A5568"/>
                </a:solidFill>
                <a:latin typeface="IBM Plex Sans" pitchFamily="34" charset="0"/>
                <a:ea typeface="IBM Plex Sans" pitchFamily="34" charset="-122"/>
                <a:cs typeface="IBM Plex Sans" pitchFamily="34" charset="-120"/>
              </a:rPr>
              <a:t>The API returns </a:t>
            </a:r>
            <a:r>
              <a:rPr lang="en-US" sz="1600" b="1" dirty="0">
                <a:solidFill>
                  <a:srgbClr val="4A5568"/>
                </a:solidFill>
                <a:latin typeface="IBM Plex Sans" pitchFamily="34" charset="0"/>
                <a:ea typeface="IBM Plex Sans" pitchFamily="34" charset="-122"/>
                <a:cs typeface="IBM Plex Sans" pitchFamily="34" charset="-120"/>
              </a:rPr>
              <a:t>409</a:t>
            </a:r>
            <a:r>
              <a:rPr lang="en-US" sz="1600" dirty="0">
                <a:solidFill>
                  <a:srgbClr val="4A5568"/>
                </a:solidFill>
                <a:latin typeface="IBM Plex Sans" pitchFamily="34" charset="0"/>
                <a:ea typeface="IBM Plex Sans" pitchFamily="34" charset="-122"/>
                <a:cs typeface="IBM Plex Sans" pitchFamily="34" charset="-120"/>
              </a:rPr>
              <a:t> whenever a doctor would have two overlapping active appointments.</a:t>
            </a:r>
            <a:endParaRPr lang="en-US" sz="1600" dirty="0"/>
          </a:p>
        </p:txBody>
      </p:sp>
      <p:sp>
        <p:nvSpPr>
          <p:cNvPr id="6" name="Shape 4"/>
          <p:cNvSpPr/>
          <p:nvPr/>
        </p:nvSpPr>
        <p:spPr>
          <a:xfrm>
            <a:off x="6324600" y="1524000"/>
            <a:ext cx="4953000" cy="3810000"/>
          </a:xfrm>
          <a:prstGeom prst="roundRect">
            <a:avLst>
              <a:gd name="adj" fmla="val 2667"/>
            </a:avLst>
          </a:prstGeom>
          <a:solidFill>
            <a:srgbClr val="E3E7EE"/>
          </a:solidFill>
          <a:ln/>
        </p:spPr>
      </p:sp>
      <p:pic>
        <p:nvPicPr>
          <p:cNvPr id="7" name="Image 0" descr="MediSlot dashboard screenshot">    </p:cNvPr>
          <p:cNvPicPr>
            <a:picLocks noChangeAspect="1"/>
          </p:cNvPicPr>
          <p:nvPr/>
        </p:nvPicPr>
        <p:blipFill>
          <a:blip r:embed="rId1"/>
          <a:stretch>
            <a:fillRect/>
          </a:stretch>
        </p:blipFill>
        <p:spPr>
          <a:xfrm>
            <a:off x="6324600" y="1881187"/>
            <a:ext cx="4953000" cy="309562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4213D"/>
                </a:solidFill>
                <a:latin typeface="IBM Plex Sans" pitchFamily="34" charset="0"/>
                <a:ea typeface="IBM Plex Sans" pitchFamily="34" charset="-122"/>
                <a:cs typeface="IBM Plex Sans" pitchFamily="34" charset="-120"/>
              </a:rPr>
              <a:t>From git push to a running pod</a:t>
            </a:r>
            <a:endParaRPr lang="en-US" sz="3600" dirty="0"/>
          </a:p>
        </p:txBody>
      </p:sp>
      <p:sp>
        <p:nvSpPr>
          <p:cNvPr id="3" name="Shape 1"/>
          <p:cNvSpPr/>
          <p:nvPr/>
        </p:nvSpPr>
        <p:spPr>
          <a:xfrm>
            <a:off x="819150" y="1700510"/>
            <a:ext cx="2178050" cy="942280"/>
          </a:xfrm>
          <a:prstGeom prst="roundRect">
            <a:avLst>
              <a:gd name="adj" fmla="val 10108"/>
            </a:avLst>
          </a:prstGeom>
          <a:solidFill>
            <a:srgbClr val="FFFFFF"/>
          </a:solidFill>
          <a:ln w="12700">
            <a:solidFill>
              <a:srgbClr val="D5DBE5"/>
            </a:solidFill>
            <a:prstDash val="solid"/>
          </a:ln>
        </p:spPr>
      </p:sp>
      <p:sp>
        <p:nvSpPr>
          <p:cNvPr id="4" name="Text 2"/>
          <p:cNvSpPr/>
          <p:nvPr/>
        </p:nvSpPr>
        <p:spPr>
          <a:xfrm>
            <a:off x="1028700" y="1910060"/>
            <a:ext cx="1811719"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Git push</a:t>
            </a:r>
            <a:endParaRPr lang="en-US" sz="1700" dirty="0"/>
          </a:p>
        </p:txBody>
      </p:sp>
      <p:sp>
        <p:nvSpPr>
          <p:cNvPr id="5" name="Text 3"/>
          <p:cNvSpPr/>
          <p:nvPr/>
        </p:nvSpPr>
        <p:spPr>
          <a:xfrm>
            <a:off x="1028700" y="2219920"/>
            <a:ext cx="18117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GitHub repo</a:t>
            </a:r>
            <a:endParaRPr lang="en-US" sz="1200" dirty="0"/>
          </a:p>
        </p:txBody>
      </p:sp>
      <p:pic>
        <p:nvPicPr>
          <p:cNvPr id="6" name="Image 0" descr="arrow-right">    </p:cNvPr>
          <p:cNvPicPr>
            <a:picLocks noChangeAspect="1"/>
          </p:cNvPicPr>
          <p:nvPr/>
        </p:nvPicPr>
        <p:blipFill>
          <a:blip r:embed="rId1"/>
          <a:srcRect l="0" r="0" t="0" b="0"/>
          <a:stretch/>
        </p:blipFill>
        <p:spPr>
          <a:xfrm>
            <a:off x="3130550" y="2070050"/>
            <a:ext cx="355600" cy="203200"/>
          </a:xfrm>
          <a:prstGeom prst="rect">
            <a:avLst/>
          </a:prstGeom>
        </p:spPr>
      </p:pic>
      <p:sp>
        <p:nvSpPr>
          <p:cNvPr id="7" name="Shape 4"/>
          <p:cNvSpPr/>
          <p:nvPr/>
        </p:nvSpPr>
        <p:spPr>
          <a:xfrm>
            <a:off x="3619500" y="1700510"/>
            <a:ext cx="2178050" cy="942280"/>
          </a:xfrm>
          <a:prstGeom prst="roundRect">
            <a:avLst>
              <a:gd name="adj" fmla="val 10108"/>
            </a:avLst>
          </a:prstGeom>
          <a:solidFill>
            <a:srgbClr val="FFFFFF"/>
          </a:solidFill>
          <a:ln w="12700">
            <a:solidFill>
              <a:srgbClr val="D5DBE5"/>
            </a:solidFill>
            <a:prstDash val="solid"/>
          </a:ln>
        </p:spPr>
      </p:sp>
      <p:sp>
        <p:nvSpPr>
          <p:cNvPr id="8" name="Text 5"/>
          <p:cNvSpPr/>
          <p:nvPr/>
        </p:nvSpPr>
        <p:spPr>
          <a:xfrm>
            <a:off x="3829050" y="1910060"/>
            <a:ext cx="1811719"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Actions</a:t>
            </a:r>
            <a:endParaRPr lang="en-US" sz="1700" dirty="0"/>
          </a:p>
        </p:txBody>
      </p:sp>
      <p:sp>
        <p:nvSpPr>
          <p:cNvPr id="9" name="Text 6"/>
          <p:cNvSpPr/>
          <p:nvPr/>
        </p:nvSpPr>
        <p:spPr>
          <a:xfrm>
            <a:off x="3829050" y="2219920"/>
            <a:ext cx="18117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Test, build, Trivy scan</a:t>
            </a:r>
            <a:endParaRPr lang="en-US" sz="1200" dirty="0"/>
          </a:p>
        </p:txBody>
      </p:sp>
      <p:pic>
        <p:nvPicPr>
          <p:cNvPr id="10" name="Image 1" descr="arrow-right">    </p:cNvPr>
          <p:cNvPicPr>
            <a:picLocks noChangeAspect="1"/>
          </p:cNvPicPr>
          <p:nvPr/>
        </p:nvPicPr>
        <p:blipFill>
          <a:blip r:embed="rId2"/>
          <a:srcRect l="0" r="0" t="0" b="0"/>
          <a:stretch/>
        </p:blipFill>
        <p:spPr>
          <a:xfrm>
            <a:off x="5930900" y="2070050"/>
            <a:ext cx="355600" cy="203200"/>
          </a:xfrm>
          <a:prstGeom prst="rect">
            <a:avLst/>
          </a:prstGeom>
        </p:spPr>
      </p:pic>
      <p:sp>
        <p:nvSpPr>
          <p:cNvPr id="11" name="Shape 7"/>
          <p:cNvSpPr/>
          <p:nvPr/>
        </p:nvSpPr>
        <p:spPr>
          <a:xfrm>
            <a:off x="6419850" y="1700510"/>
            <a:ext cx="2178050" cy="942280"/>
          </a:xfrm>
          <a:prstGeom prst="roundRect">
            <a:avLst>
              <a:gd name="adj" fmla="val 10108"/>
            </a:avLst>
          </a:prstGeom>
          <a:solidFill>
            <a:srgbClr val="FFFFFF"/>
          </a:solidFill>
          <a:ln w="12700">
            <a:solidFill>
              <a:srgbClr val="D5DBE5"/>
            </a:solidFill>
            <a:prstDash val="solid"/>
          </a:ln>
        </p:spPr>
      </p:sp>
      <p:sp>
        <p:nvSpPr>
          <p:cNvPr id="12" name="Text 8"/>
          <p:cNvSpPr/>
          <p:nvPr/>
        </p:nvSpPr>
        <p:spPr>
          <a:xfrm>
            <a:off x="6629400" y="1910060"/>
            <a:ext cx="1811719"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GHCR</a:t>
            </a:r>
            <a:endParaRPr lang="en-US" sz="1700" dirty="0"/>
          </a:p>
        </p:txBody>
      </p:sp>
      <p:sp>
        <p:nvSpPr>
          <p:cNvPr id="13" name="Text 9"/>
          <p:cNvSpPr/>
          <p:nvPr/>
        </p:nvSpPr>
        <p:spPr>
          <a:xfrm>
            <a:off x="6629400" y="2219920"/>
            <a:ext cx="18117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Image tagged by SHA</a:t>
            </a:r>
            <a:endParaRPr lang="en-US" sz="1200" dirty="0"/>
          </a:p>
        </p:txBody>
      </p:sp>
      <p:pic>
        <p:nvPicPr>
          <p:cNvPr id="14" name="Image 2" descr="arrow-right">    </p:cNvPr>
          <p:cNvPicPr>
            <a:picLocks noChangeAspect="1"/>
          </p:cNvPicPr>
          <p:nvPr/>
        </p:nvPicPr>
        <p:blipFill>
          <a:blip r:embed="rId3"/>
          <a:srcRect l="0" r="0" t="0" b="0"/>
          <a:stretch/>
        </p:blipFill>
        <p:spPr>
          <a:xfrm>
            <a:off x="8731250" y="2070050"/>
            <a:ext cx="355600" cy="203200"/>
          </a:xfrm>
          <a:prstGeom prst="rect">
            <a:avLst/>
          </a:prstGeom>
        </p:spPr>
      </p:pic>
      <p:sp>
        <p:nvSpPr>
          <p:cNvPr id="15" name="Shape 10"/>
          <p:cNvSpPr/>
          <p:nvPr/>
        </p:nvSpPr>
        <p:spPr>
          <a:xfrm>
            <a:off x="9213850" y="1706860"/>
            <a:ext cx="2165350" cy="929580"/>
          </a:xfrm>
          <a:prstGeom prst="roundRect">
            <a:avLst>
              <a:gd name="adj" fmla="val 10930"/>
            </a:avLst>
          </a:prstGeom>
          <a:solidFill>
            <a:srgbClr val="14213D"/>
          </a:solidFill>
          <a:ln/>
        </p:spPr>
      </p:sp>
      <p:sp>
        <p:nvSpPr>
          <p:cNvPr id="16" name="Text 11"/>
          <p:cNvSpPr/>
          <p:nvPr/>
        </p:nvSpPr>
        <p:spPr>
          <a:xfrm>
            <a:off x="9417050" y="1910060"/>
            <a:ext cx="1811719"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4F5F0"/>
                </a:solidFill>
                <a:latin typeface="IBM Plex Sans" pitchFamily="34" charset="0"/>
                <a:ea typeface="IBM Plex Sans" pitchFamily="34" charset="-122"/>
                <a:cs typeface="IBM Plex Sans" pitchFamily="34" charset="-120"/>
              </a:rPr>
              <a:t>Helm → EKS</a:t>
            </a:r>
            <a:endParaRPr lang="en-US" sz="1700" dirty="0"/>
          </a:p>
        </p:txBody>
      </p:sp>
      <p:sp>
        <p:nvSpPr>
          <p:cNvPr id="17" name="Text 12"/>
          <p:cNvSpPr/>
          <p:nvPr/>
        </p:nvSpPr>
        <p:spPr>
          <a:xfrm>
            <a:off x="9417050" y="2219920"/>
            <a:ext cx="18117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3"/>
                </a:solidFill>
                <a:latin typeface="IBM Plex Sans" pitchFamily="34" charset="0"/>
                <a:ea typeface="IBM Plex Sans" pitchFamily="34" charset="-122"/>
                <a:cs typeface="IBM Plex Sans" pitchFamily="34" charset="-120"/>
              </a:rPr>
              <a:t>Rolling upgrade</a:t>
            </a:r>
            <a:endParaRPr lang="en-US" sz="1200" dirty="0"/>
          </a:p>
        </p:txBody>
      </p:sp>
      <p:sp>
        <p:nvSpPr>
          <p:cNvPr id="18" name="Shape 13"/>
          <p:cNvSpPr/>
          <p:nvPr/>
        </p:nvSpPr>
        <p:spPr>
          <a:xfrm>
            <a:off x="812800" y="3017441"/>
            <a:ext cx="3420517" cy="0"/>
          </a:xfrm>
          <a:prstGeom prst="line">
            <a:avLst/>
          </a:prstGeom>
          <a:noFill/>
          <a:ln w="25400">
            <a:solidFill>
              <a:srgbClr val="B85C1E"/>
            </a:solidFill>
            <a:prstDash val="solid"/>
          </a:ln>
        </p:spPr>
      </p:sp>
      <p:sp>
        <p:nvSpPr>
          <p:cNvPr id="19" name="Text 14"/>
          <p:cNvSpPr/>
          <p:nvPr/>
        </p:nvSpPr>
        <p:spPr>
          <a:xfrm>
            <a:off x="812800" y="3182541"/>
            <a:ext cx="352313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ingress-nginx (NLB)</a:t>
            </a:r>
            <a:endParaRPr lang="en-US" sz="1600" dirty="0"/>
          </a:p>
        </p:txBody>
      </p:sp>
      <p:sp>
        <p:nvSpPr>
          <p:cNvPr id="20" name="Text 15"/>
          <p:cNvSpPr/>
          <p:nvPr/>
        </p:nvSpPr>
        <p:spPr>
          <a:xfrm>
            <a:off x="812800" y="3477171"/>
            <a:ext cx="3523132"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 → React + Nginx</a:t>
            </a:r>
            <a:endParaRPr lang="en-US" sz="1300" dirty="0"/>
          </a:p>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/api → FastAPI</a:t>
            </a:r>
            <a:endParaRPr lang="en-US" sz="1300" dirty="0"/>
          </a:p>
        </p:txBody>
      </p:sp>
      <p:sp>
        <p:nvSpPr>
          <p:cNvPr id="21" name="Shape 16"/>
          <p:cNvSpPr/>
          <p:nvPr/>
        </p:nvSpPr>
        <p:spPr>
          <a:xfrm>
            <a:off x="4385717" y="3017441"/>
            <a:ext cx="3420517" cy="0"/>
          </a:xfrm>
          <a:prstGeom prst="line">
            <a:avLst/>
          </a:prstGeom>
          <a:noFill/>
          <a:ln w="25400">
            <a:solidFill>
              <a:srgbClr val="B85C1E"/>
            </a:solidFill>
            <a:prstDash val="solid"/>
          </a:ln>
        </p:spPr>
      </p:sp>
      <p:sp>
        <p:nvSpPr>
          <p:cNvPr id="22" name="Text 17"/>
          <p:cNvSpPr/>
          <p:nvPr/>
        </p:nvSpPr>
        <p:spPr>
          <a:xfrm>
            <a:off x="4385717" y="3182541"/>
            <a:ext cx="352313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Backend 2–8 pods</a:t>
            </a:r>
            <a:endParaRPr lang="en-US" sz="1600" dirty="0"/>
          </a:p>
        </p:txBody>
      </p:sp>
      <p:sp>
        <p:nvSpPr>
          <p:cNvPr id="23" name="Text 18"/>
          <p:cNvSpPr/>
          <p:nvPr/>
        </p:nvSpPr>
        <p:spPr>
          <a:xfrm>
            <a:off x="4385717" y="3477171"/>
            <a:ext cx="352313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Scaled by HPA at 60% CPU</a:t>
            </a:r>
            <a:endParaRPr lang="en-US" sz="1300" dirty="0"/>
          </a:p>
        </p:txBody>
      </p:sp>
      <p:sp>
        <p:nvSpPr>
          <p:cNvPr id="24" name="Shape 19"/>
          <p:cNvSpPr/>
          <p:nvPr/>
        </p:nvSpPr>
        <p:spPr>
          <a:xfrm>
            <a:off x="7958634" y="3017441"/>
            <a:ext cx="3420566" cy="0"/>
          </a:xfrm>
          <a:prstGeom prst="line">
            <a:avLst/>
          </a:prstGeom>
          <a:noFill/>
          <a:ln w="25400">
            <a:solidFill>
              <a:srgbClr val="B85C1E"/>
            </a:solidFill>
            <a:prstDash val="solid"/>
          </a:ln>
        </p:spPr>
      </p:sp>
      <p:sp>
        <p:nvSpPr>
          <p:cNvPr id="25" name="Text 20"/>
          <p:cNvSpPr/>
          <p:nvPr/>
        </p:nvSpPr>
        <p:spPr>
          <a:xfrm>
            <a:off x="7958634" y="3182541"/>
            <a:ext cx="3523183"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PostgreSQL</a:t>
            </a:r>
            <a:endParaRPr lang="en-US" sz="1600" dirty="0"/>
          </a:p>
        </p:txBody>
      </p:sp>
      <p:sp>
        <p:nvSpPr>
          <p:cNvPr id="26" name="Text 21"/>
          <p:cNvSpPr/>
          <p:nvPr/>
        </p:nvSpPr>
        <p:spPr>
          <a:xfrm>
            <a:off x="7958634" y="3477171"/>
            <a:ext cx="3523183"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StatefulSet on EBS gp3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4213D"/>
                </a:solidFill>
                <a:latin typeface="IBM Plex Sans" pitchFamily="34" charset="0"/>
                <a:ea typeface="IBM Plex Sans" pitchFamily="34" charset="-122"/>
                <a:cs typeface="IBM Plex Sans" pitchFamily="34" charset="-120"/>
              </a:rPr>
              <a:t>Technology stack</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656060"/>
          <a:ext cx="10553700" cy="3474095"/>
        </p:xfrm>
        <a:graphic>
          <a:graphicData uri="http://schemas.openxmlformats.org/drawingml/2006/table">
            <a:tbl>
              <a:tblPr/>
              <a:tblGrid>
                <a:gridCol w="2955036"/>
                <a:gridCol w="7598664"/>
              </a:tblGrid>
              <a:tr h="386011">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Layer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BF"/>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2E3DE"/>
                    </a:solidFill>
                  </a:tcPr>
                </a:tc>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Technology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2E3DE"/>
                    </a:solidFill>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Frontend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React 19 + Vite 8, served by unprivileged Nginx</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Backend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FastAPI, SQLAlchemy 2, Pydantic 2, Alembic</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Database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PostgreSQL 18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Containers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Multi-stage Dockerfiles, non-root, Docker Compose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CI/CD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GitHub Actions, Trivy, GitHub Container Registry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Infrastructure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Terraform: AWS VPC + EKS 1.36, Pod Identity, IAM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Platform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Kubernetes, Helm, ingress-nginx, HPA, PDBs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Observability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kube-prometheus-stack: Prometheus, Grafana, Alertmanager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5F0"/>
        </a:solidFill>
      </p:bgPr>
    </p:bg>
    <p:spTree>
      <p:nvGrpSpPr>
        <p:cNvPr id="1" name=""/>
        <p:cNvGrpSpPr/>
        <p:nvPr/>
      </p:nvGrpSpPr>
      <p:grpSpPr>
        <a:xfrm>
          <a:off x="0" y="0"/>
          <a:ext cx="0" cy="0"/>
          <a:chOff x="0" y="0"/>
          <a:chExt cx="0" cy="0"/>
        </a:xfrm>
      </p:grpSpPr>
      <p:sp>
        <p:nvSpPr>
          <p:cNvPr id="2" name="Text 0"/>
          <p:cNvSpPr/>
          <p:nvPr/>
        </p:nvSpPr>
        <p:spPr>
          <a:xfrm>
            <a:off x="812800" y="1974205"/>
            <a:ext cx="5206238"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85C1E"/>
                </a:solidFill>
                <a:latin typeface="JetBrains Mono" pitchFamily="49" charset="0"/>
                <a:ea typeface="JetBrains Mono" pitchFamily="49" charset="-122"/>
                <a:cs typeface="JetBrains Mono" pitchFamily="49" charset="-120"/>
              </a:rPr>
              <a:t>CI/CD PIPELINE</a:t>
            </a:r>
            <a:endParaRPr lang="en-US" sz="1300" dirty="0"/>
          </a:p>
        </p:txBody>
      </p:sp>
      <p:sp>
        <p:nvSpPr>
          <p:cNvPr id="3" name="Text 1"/>
          <p:cNvSpPr/>
          <p:nvPr>
            <p:ph type="title"/>
          </p:nvPr>
        </p:nvSpPr>
        <p:spPr>
          <a:xfrm>
            <a:off x="812800" y="2383135"/>
            <a:ext cx="5206238" cy="91946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Every push is tested, scanned and deployed</a:t>
            </a:r>
            <a:endParaRPr lang="en-US" sz="3200" dirty="0"/>
          </a:p>
        </p:txBody>
      </p:sp>
      <p:sp>
        <p:nvSpPr>
          <p:cNvPr id="4" name="Text 2"/>
          <p:cNvSpPr/>
          <p:nvPr/>
        </p:nvSpPr>
        <p:spPr>
          <a:xfrm>
            <a:off x="855712" y="3454995"/>
            <a:ext cx="5155706" cy="1454150"/>
          </a:xfrm>
          <a:prstGeom prst="rect">
            <a:avLst/>
          </a:prstGeom>
          <a:noFill/>
          <a:ln/>
        </p:spPr>
        <p:txBody>
          <a:bodyPr wrap="square" lIns="0" tIns="0" rIns="0" bIns="0" rtlCol="0" anchor="t">
            <a:normAutofit/>
          </a:bodyPr>
          <a:lstStyle/>
          <a:p>
            <a:pPr algn="l" marL="211088" indent="-211088">
              <a:lnSpc>
                <a:spcPts val="2250"/>
              </a:lnSpc>
              <a:buSzPct val="100000"/>
              <a:buFontTx/>
              <a:buAutoNum type="arabicPeriod" startAt="1"/>
            </a:pPr>
            <a:r>
              <a:rPr lang="en-US" sz="1500" dirty="0">
                <a:solidFill>
                  <a:srgbClr val="4A5568"/>
                </a:solidFill>
                <a:latin typeface="IBM Plex Sans" pitchFamily="34" charset="0"/>
                <a:ea typeface="IBM Plex Sans" pitchFamily="34" charset="-122"/>
                <a:cs typeface="IBM Plex Sans" pitchFamily="34" charset="-120"/>
              </a:rPr>
              <a:t>22 pytest tests + Alembic check on real PostgreSQL</a:t>
            </a:r>
            <a:endParaRPr lang="en-US" sz="1500" dirty="0"/>
          </a:p>
          <a:p>
            <a:pPr algn="l" marL="211088" indent="-211088">
              <a:lnSpc>
                <a:spcPts val="2250"/>
              </a:lnSpc>
              <a:buSzPct val="100000"/>
              <a:buFontTx/>
              <a:buAutoNum type="arabicPeriod" startAt="1"/>
            </a:pPr>
            <a:r>
              <a:rPr lang="en-US" sz="1500" dirty="0">
                <a:solidFill>
                  <a:srgbClr val="4A5568"/>
                </a:solidFill>
                <a:latin typeface="IBM Plex Sans" pitchFamily="34" charset="0"/>
                <a:ea typeface="IBM Plex Sans" pitchFamily="34" charset="-122"/>
                <a:cs typeface="IBM Plex Sans" pitchFamily="34" charset="-120"/>
              </a:rPr>
              <a:t>Frontend tests, helm lint, terraform validate</a:t>
            </a:r>
            <a:endParaRPr lang="en-US" sz="1500" dirty="0"/>
          </a:p>
          <a:p>
            <a:pPr algn="l" marL="211088" indent="-211088">
              <a:lnSpc>
                <a:spcPts val="2250"/>
              </a:lnSpc>
              <a:buSzPct val="100000"/>
              <a:buFontTx/>
              <a:buAutoNum type="arabicPeriod" startAt="1"/>
            </a:pPr>
            <a:r>
              <a:rPr lang="en-US" sz="1500" dirty="0">
                <a:solidFill>
                  <a:srgbClr val="4A5568"/>
                </a:solidFill>
                <a:latin typeface="IBM Plex Sans" pitchFamily="34" charset="0"/>
                <a:ea typeface="IBM Plex Sans" pitchFamily="34" charset="-122"/>
                <a:cs typeface="IBM Plex Sans" pitchFamily="34" charset="-120"/>
              </a:rPr>
              <a:t>Docker build tagged with the commit SHA</a:t>
            </a:r>
            <a:endParaRPr lang="en-US" sz="1500" dirty="0"/>
          </a:p>
          <a:p>
            <a:pPr algn="l" marL="211088" indent="-211088">
              <a:lnSpc>
                <a:spcPts val="2250"/>
              </a:lnSpc>
              <a:buSzPct val="100000"/>
              <a:buFontTx/>
              <a:buAutoNum type="arabicPeriod" startAt="1"/>
            </a:pPr>
            <a:r>
              <a:rPr lang="en-US" sz="1500" dirty="0">
                <a:solidFill>
                  <a:srgbClr val="4A5568"/>
                </a:solidFill>
                <a:latin typeface="IBM Plex Sans" pitchFamily="34" charset="0"/>
                <a:ea typeface="IBM Plex Sans" pitchFamily="34" charset="-122"/>
                <a:cs typeface="IBM Plex Sans" pitchFamily="34" charset="-120"/>
              </a:rPr>
              <a:t>Trivy fails on fixable HIGH/CRITICAL CVEs</a:t>
            </a:r>
            <a:endParaRPr lang="en-US" sz="1500" dirty="0"/>
          </a:p>
          <a:p>
            <a:pPr algn="l" marL="211088" indent="-211088">
              <a:lnSpc>
                <a:spcPts val="2250"/>
              </a:lnSpc>
              <a:buSzPct val="100000"/>
              <a:buFontTx/>
              <a:buAutoNum type="arabicPeriod" startAt="1"/>
            </a:pPr>
            <a:r>
              <a:rPr lang="en-US" sz="1500" dirty="0">
                <a:solidFill>
                  <a:srgbClr val="4A5568"/>
                </a:solidFill>
                <a:latin typeface="IBM Plex Sans" pitchFamily="34" charset="0"/>
                <a:ea typeface="IBM Plex Sans" pitchFamily="34" charset="-122"/>
                <a:cs typeface="IBM Plex Sans" pitchFamily="34" charset="-120"/>
              </a:rPr>
              <a:t>Push to GHCR, helm upgrade, smoke test</a:t>
            </a:r>
            <a:endParaRPr lang="en-US" sz="1500" dirty="0"/>
          </a:p>
        </p:txBody>
      </p:sp>
      <p:sp>
        <p:nvSpPr>
          <p:cNvPr id="5" name="Shape 3"/>
          <p:cNvSpPr/>
          <p:nvPr/>
        </p:nvSpPr>
        <p:spPr>
          <a:xfrm>
            <a:off x="6324600" y="1397000"/>
            <a:ext cx="4953000" cy="4064000"/>
          </a:xfrm>
          <a:prstGeom prst="roundRect">
            <a:avLst>
              <a:gd name="adj" fmla="val 2500"/>
            </a:avLst>
          </a:prstGeom>
          <a:solidFill>
            <a:srgbClr val="E3E7EE"/>
          </a:solidFill>
          <a:ln/>
        </p:spPr>
      </p:sp>
      <p:pic>
        <p:nvPicPr>
          <p:cNvPr id="6" name="Image 0" descr="Green GitHub Actions pipeline run">    </p:cNvPr>
          <p:cNvPicPr>
            <a:picLocks noChangeAspect="1"/>
          </p:cNvPicPr>
          <p:nvPr/>
        </p:nvPicPr>
        <p:blipFill>
          <a:blip r:embed="rId1"/>
          <a:stretch>
            <a:fillRect/>
          </a:stretch>
        </p:blipFill>
        <p:spPr>
          <a:xfrm>
            <a:off x="6324600" y="2334262"/>
            <a:ext cx="4953000" cy="218947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213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F4F5F0"/>
                </a:solidFill>
                <a:latin typeface="IBM Plex Sans" pitchFamily="34" charset="0"/>
                <a:ea typeface="IBM Plex Sans" pitchFamily="34" charset="-122"/>
                <a:cs typeface="IBM Plex Sans" pitchFamily="34" charset="-120"/>
              </a:rPr>
              <a:t>Security built into every layer</a:t>
            </a:r>
            <a:endParaRPr lang="en-US" sz="3600" dirty="0"/>
          </a:p>
        </p:txBody>
      </p:sp>
      <p:sp>
        <p:nvSpPr>
          <p:cNvPr id="3" name="Shape 1"/>
          <p:cNvSpPr/>
          <p:nvPr/>
        </p:nvSpPr>
        <p:spPr>
          <a:xfrm>
            <a:off x="812800" y="1694160"/>
            <a:ext cx="5181600" cy="1356271"/>
          </a:xfrm>
          <a:prstGeom prst="roundRect">
            <a:avLst>
              <a:gd name="adj" fmla="val 7491"/>
            </a:avLst>
          </a:prstGeom>
          <a:solidFill>
            <a:srgbClr val="1F2E50"/>
          </a:solidFill>
          <a:ln/>
        </p:spPr>
      </p:sp>
      <p:sp>
        <p:nvSpPr>
          <p:cNvPr id="4" name="Text 2"/>
          <p:cNvSpPr/>
          <p:nvPr/>
        </p:nvSpPr>
        <p:spPr>
          <a:xfrm>
            <a:off x="1066800" y="1948160"/>
            <a:ext cx="4813808"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2A65A"/>
                </a:solidFill>
                <a:latin typeface="IBM Plex Sans" pitchFamily="34" charset="0"/>
                <a:ea typeface="IBM Plex Sans" pitchFamily="34" charset="-122"/>
                <a:cs typeface="IBM Plex Sans" pitchFamily="34" charset="-120"/>
              </a:rPr>
              <a:t>No secrets in Git</a:t>
            </a:r>
            <a:endParaRPr lang="en-US" sz="1800" dirty="0"/>
          </a:p>
        </p:txBody>
      </p:sp>
      <p:sp>
        <p:nvSpPr>
          <p:cNvPr id="5" name="Text 3"/>
          <p:cNvSpPr/>
          <p:nvPr/>
        </p:nvSpPr>
        <p:spPr>
          <a:xfrm>
            <a:off x="1066800" y="2298650"/>
            <a:ext cx="481380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E3"/>
                </a:solidFill>
                <a:latin typeface="IBM Plex Sans" pitchFamily="34" charset="0"/>
                <a:ea typeface="IBM Plex Sans" pitchFamily="34" charset="-122"/>
                <a:cs typeface="IBM Plex Sans" pitchFamily="34" charset="-120"/>
              </a:rPr>
              <a:t>DB password injected at deploy; AWS via OIDC or a deploy user limited to eks:DescribeCluster.</a:t>
            </a:r>
            <a:endParaRPr lang="en-US" sz="1400" dirty="0"/>
          </a:p>
        </p:txBody>
      </p:sp>
      <p:sp>
        <p:nvSpPr>
          <p:cNvPr id="6" name="Shape 4"/>
          <p:cNvSpPr/>
          <p:nvPr/>
        </p:nvSpPr>
        <p:spPr>
          <a:xfrm>
            <a:off x="6197600" y="1694160"/>
            <a:ext cx="5181600" cy="1356271"/>
          </a:xfrm>
          <a:prstGeom prst="roundRect">
            <a:avLst>
              <a:gd name="adj" fmla="val 7491"/>
            </a:avLst>
          </a:prstGeom>
          <a:solidFill>
            <a:srgbClr val="1F2E50"/>
          </a:solidFill>
          <a:ln/>
        </p:spPr>
      </p:sp>
      <p:sp>
        <p:nvSpPr>
          <p:cNvPr id="7" name="Text 5"/>
          <p:cNvSpPr/>
          <p:nvPr/>
        </p:nvSpPr>
        <p:spPr>
          <a:xfrm>
            <a:off x="6451600" y="1948160"/>
            <a:ext cx="4813808"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2A65A"/>
                </a:solidFill>
                <a:latin typeface="IBM Plex Sans" pitchFamily="34" charset="0"/>
                <a:ea typeface="IBM Plex Sans" pitchFamily="34" charset="-122"/>
                <a:cs typeface="IBM Plex Sans" pitchFamily="34" charset="-120"/>
              </a:rPr>
              <a:t>Non-root containers</a:t>
            </a:r>
            <a:endParaRPr lang="en-US" sz="1800" dirty="0"/>
          </a:p>
        </p:txBody>
      </p:sp>
      <p:sp>
        <p:nvSpPr>
          <p:cNvPr id="8" name="Text 6"/>
          <p:cNvSpPr/>
          <p:nvPr/>
        </p:nvSpPr>
        <p:spPr>
          <a:xfrm>
            <a:off x="6451600" y="2298650"/>
            <a:ext cx="481380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E3"/>
                </a:solidFill>
                <a:latin typeface="IBM Plex Sans" pitchFamily="34" charset="0"/>
                <a:ea typeface="IBM Plex Sans" pitchFamily="34" charset="-122"/>
                <a:cs typeface="IBM Plex Sans" pitchFamily="34" charset="-120"/>
              </a:rPr>
              <a:t>All pods pass the restricted Pod Security Standard; capabilities dropped, seccomp on.</a:t>
            </a:r>
            <a:endParaRPr lang="en-US" sz="1400" dirty="0"/>
          </a:p>
        </p:txBody>
      </p:sp>
      <p:sp>
        <p:nvSpPr>
          <p:cNvPr id="9" name="Shape 7"/>
          <p:cNvSpPr/>
          <p:nvPr/>
        </p:nvSpPr>
        <p:spPr>
          <a:xfrm>
            <a:off x="812800" y="3253631"/>
            <a:ext cx="5181600" cy="1356271"/>
          </a:xfrm>
          <a:prstGeom prst="roundRect">
            <a:avLst>
              <a:gd name="adj" fmla="val 7491"/>
            </a:avLst>
          </a:prstGeom>
          <a:solidFill>
            <a:srgbClr val="1F2E50"/>
          </a:solidFill>
          <a:ln/>
        </p:spPr>
      </p:sp>
      <p:sp>
        <p:nvSpPr>
          <p:cNvPr id="10" name="Text 8"/>
          <p:cNvSpPr/>
          <p:nvPr/>
        </p:nvSpPr>
        <p:spPr>
          <a:xfrm>
            <a:off x="1066800" y="3507631"/>
            <a:ext cx="4813808"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2A65A"/>
                </a:solidFill>
                <a:latin typeface="IBM Plex Sans" pitchFamily="34" charset="0"/>
                <a:ea typeface="IBM Plex Sans" pitchFamily="34" charset="-122"/>
                <a:cs typeface="IBM Plex Sans" pitchFamily="34" charset="-120"/>
              </a:rPr>
              <a:t>Scan before push</a:t>
            </a:r>
            <a:endParaRPr lang="en-US" sz="1800" dirty="0"/>
          </a:p>
        </p:txBody>
      </p:sp>
      <p:sp>
        <p:nvSpPr>
          <p:cNvPr id="11" name="Text 9"/>
          <p:cNvSpPr/>
          <p:nvPr/>
        </p:nvSpPr>
        <p:spPr>
          <a:xfrm>
            <a:off x="1066800" y="3858121"/>
            <a:ext cx="481380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E3"/>
                </a:solidFill>
                <a:latin typeface="IBM Plex Sans" pitchFamily="34" charset="0"/>
                <a:ea typeface="IBM Plex Sans" pitchFamily="34" charset="-122"/>
                <a:cs typeface="IBM Plex Sans" pitchFamily="34" charset="-120"/>
              </a:rPr>
              <a:t>Trivy gate plus SARIF in GitHub Security; pip removed from the runtime image.</a:t>
            </a:r>
            <a:endParaRPr lang="en-US" sz="1400" dirty="0"/>
          </a:p>
        </p:txBody>
      </p:sp>
      <p:sp>
        <p:nvSpPr>
          <p:cNvPr id="12" name="Shape 10"/>
          <p:cNvSpPr/>
          <p:nvPr/>
        </p:nvSpPr>
        <p:spPr>
          <a:xfrm>
            <a:off x="6197600" y="3253631"/>
            <a:ext cx="5181600" cy="1356271"/>
          </a:xfrm>
          <a:prstGeom prst="roundRect">
            <a:avLst>
              <a:gd name="adj" fmla="val 7491"/>
            </a:avLst>
          </a:prstGeom>
          <a:solidFill>
            <a:srgbClr val="1F2E50"/>
          </a:solidFill>
          <a:ln/>
        </p:spPr>
      </p:sp>
      <p:sp>
        <p:nvSpPr>
          <p:cNvPr id="13" name="Text 11"/>
          <p:cNvSpPr/>
          <p:nvPr/>
        </p:nvSpPr>
        <p:spPr>
          <a:xfrm>
            <a:off x="6451600" y="3507631"/>
            <a:ext cx="4813808"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2A65A"/>
                </a:solidFill>
                <a:latin typeface="IBM Plex Sans" pitchFamily="34" charset="0"/>
                <a:ea typeface="IBM Plex Sans" pitchFamily="34" charset="-122"/>
                <a:cs typeface="IBM Plex Sans" pitchFamily="34" charset="-120"/>
              </a:rPr>
              <a:t>Supply-chain pinning</a:t>
            </a:r>
            <a:endParaRPr lang="en-US" sz="1800" dirty="0"/>
          </a:p>
        </p:txBody>
      </p:sp>
      <p:sp>
        <p:nvSpPr>
          <p:cNvPr id="14" name="Text 12"/>
          <p:cNvSpPr/>
          <p:nvPr/>
        </p:nvSpPr>
        <p:spPr>
          <a:xfrm>
            <a:off x="6451600" y="3858121"/>
            <a:ext cx="481380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E3"/>
                </a:solidFill>
                <a:latin typeface="IBM Plex Sans" pitchFamily="34" charset="0"/>
                <a:ea typeface="IBM Plex Sans" pitchFamily="34" charset="-122"/>
                <a:cs typeface="IBM Plex Sans" pitchFamily="34" charset="-120"/>
              </a:rPr>
              <a:t>trivy-action pinned to a commit SHA after its tags were hijacked (CVE-2026-33634).</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5F0"/>
        </a:solidFill>
      </p:bgPr>
    </p:bg>
    <p:spTree>
      <p:nvGrpSpPr>
        <p:cNvPr id="1" name=""/>
        <p:cNvGrpSpPr/>
        <p:nvPr/>
      </p:nvGrpSpPr>
      <p:grpSpPr>
        <a:xfrm>
          <a:off x="0" y="0"/>
          <a:ext cx="0" cy="0"/>
          <a:chOff x="0" y="0"/>
          <a:chExt cx="0" cy="0"/>
        </a:xfrm>
      </p:grpSpPr>
      <p:sp>
        <p:nvSpPr>
          <p:cNvPr id="2" name="Text 0"/>
          <p:cNvSpPr/>
          <p:nvPr/>
        </p:nvSpPr>
        <p:spPr>
          <a:xfrm>
            <a:off x="812800" y="1974205"/>
            <a:ext cx="5206238"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85C1E"/>
                </a:solidFill>
                <a:latin typeface="JetBrains Mono" pitchFamily="49" charset="0"/>
                <a:ea typeface="JetBrains Mono" pitchFamily="49" charset="-122"/>
                <a:cs typeface="JetBrains Mono" pitchFamily="49" charset="-120"/>
              </a:rPr>
              <a:t>INFRASTRUCTURE AS CODE</a:t>
            </a:r>
            <a:endParaRPr lang="en-US" sz="1300" dirty="0"/>
          </a:p>
        </p:txBody>
      </p:sp>
      <p:sp>
        <p:nvSpPr>
          <p:cNvPr id="3" name="Text 1"/>
          <p:cNvSpPr/>
          <p:nvPr>
            <p:ph type="title"/>
          </p:nvPr>
        </p:nvSpPr>
        <p:spPr>
          <a:xfrm>
            <a:off x="812800" y="2383135"/>
            <a:ext cx="5206238" cy="91946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Terraform builds the AWS foundation</a:t>
            </a:r>
            <a:endParaRPr lang="en-US" sz="3200" dirty="0"/>
          </a:p>
        </p:txBody>
      </p:sp>
      <p:sp>
        <p:nvSpPr>
          <p:cNvPr id="4" name="Text 2"/>
          <p:cNvSpPr/>
          <p:nvPr/>
        </p:nvSpPr>
        <p:spPr>
          <a:xfrm>
            <a:off x="883920" y="3454995"/>
            <a:ext cx="5127498" cy="1454150"/>
          </a:xfrm>
          <a:prstGeom prst="rect">
            <a:avLst/>
          </a:prstGeom>
          <a:noFill/>
          <a:ln/>
        </p:spPr>
        <p:txBody>
          <a:bodyPr wrap="square" lIns="0" tIns="0" rIns="0" bIns="0" rtlCol="0" anchor="t">
            <a:normAutofit/>
          </a:bodyPr>
          <a:lstStyle/>
          <a:p>
            <a:pPr algn="l" marL="182880" indent="-182880">
              <a:lnSpc>
                <a:spcPts val="2250"/>
              </a:lnSpc>
              <a:buSzPct val="100000"/>
              <a:buChar char="•"/>
            </a:pPr>
            <a:r>
              <a:rPr lang="en-US" sz="1500" dirty="0">
                <a:solidFill>
                  <a:srgbClr val="4A5568"/>
                </a:solidFill>
                <a:latin typeface="IBM Plex Sans" pitchFamily="34" charset="0"/>
                <a:ea typeface="IBM Plex Sans" pitchFamily="34" charset="-122"/>
                <a:cs typeface="IBM Plex Sans" pitchFamily="34" charset="-120"/>
              </a:rPr>
              <a:t>VPC 10.20.0.0/16 across two AZs, one NAT gateway</a:t>
            </a:r>
            <a:endParaRPr lang="en-US" sz="1500" dirty="0"/>
          </a:p>
          <a:p>
            <a:pPr algn="l" marL="182880" indent="-182880">
              <a:lnSpc>
                <a:spcPts val="2250"/>
              </a:lnSpc>
              <a:buSzPct val="100000"/>
              <a:buChar char="•"/>
            </a:pPr>
            <a:r>
              <a:rPr lang="en-US" sz="1500" dirty="0">
                <a:solidFill>
                  <a:srgbClr val="4A5568"/>
                </a:solidFill>
                <a:latin typeface="IBM Plex Sans" pitchFamily="34" charset="0"/>
                <a:ea typeface="IBM Plex Sans" pitchFamily="34" charset="-122"/>
                <a:cs typeface="IBM Plex Sans" pitchFamily="34" charset="-120"/>
              </a:rPr>
              <a:t>2 public subnets for load balancers, 2 private for nodes</a:t>
            </a:r>
            <a:endParaRPr lang="en-US" sz="1500" dirty="0"/>
          </a:p>
          <a:p>
            <a:pPr algn="l" marL="182880" indent="-182880">
              <a:lnSpc>
                <a:spcPts val="2250"/>
              </a:lnSpc>
              <a:buSzPct val="100000"/>
              <a:buChar char="•"/>
            </a:pPr>
            <a:r>
              <a:rPr lang="en-US" sz="1500" dirty="0">
                <a:solidFill>
                  <a:srgbClr val="4A5568"/>
                </a:solidFill>
                <a:latin typeface="IBM Plex Sans" pitchFamily="34" charset="0"/>
                <a:ea typeface="IBM Plex Sans" pitchFamily="34" charset="-122"/>
                <a:cs typeface="IBM Plex Sans" pitchFamily="34" charset="-120"/>
              </a:rPr>
              <a:t>EKS 1.36, managed nodes: 2× c7i-flex.large, scales 2–4</a:t>
            </a:r>
            <a:endParaRPr lang="en-US" sz="1500" dirty="0"/>
          </a:p>
          <a:p>
            <a:pPr algn="l" marL="182880" indent="-182880">
              <a:lnSpc>
                <a:spcPts val="2250"/>
              </a:lnSpc>
              <a:buSzPct val="100000"/>
              <a:buChar char="•"/>
            </a:pPr>
            <a:r>
              <a:rPr lang="en-US" sz="1500" dirty="0">
                <a:solidFill>
                  <a:srgbClr val="4A5568"/>
                </a:solidFill>
                <a:latin typeface="IBM Plex Sans" pitchFamily="34" charset="0"/>
                <a:ea typeface="IBM Plex Sans" pitchFamily="34" charset="-122"/>
                <a:cs typeface="IBM Plex Sans" pitchFamily="34" charset="-120"/>
              </a:rPr>
              <a:t>Add-ons: EBS CSI via Pod Identity, metrics-server</a:t>
            </a:r>
            <a:endParaRPr lang="en-US" sz="1500" dirty="0"/>
          </a:p>
          <a:p>
            <a:pPr algn="l" marL="182880" indent="-182880">
              <a:lnSpc>
                <a:spcPts val="2250"/>
              </a:lnSpc>
              <a:buSzPct val="100000"/>
              <a:buChar char="•"/>
            </a:pPr>
            <a:r>
              <a:rPr lang="en-US" sz="1500" dirty="0">
                <a:solidFill>
                  <a:srgbClr val="4A5568"/>
                </a:solidFill>
                <a:latin typeface="IBM Plex Sans" pitchFamily="34" charset="0"/>
                <a:ea typeface="IBM Plex Sans" pitchFamily="34" charset="-122"/>
                <a:cs typeface="IBM Plex Sans" pitchFamily="34" charset="-120"/>
              </a:rPr>
              <a:t>≈ US$0.40/hour; destroyed after evaluation</a:t>
            </a:r>
            <a:endParaRPr lang="en-US" sz="1500" dirty="0"/>
          </a:p>
        </p:txBody>
      </p:sp>
      <p:sp>
        <p:nvSpPr>
          <p:cNvPr id="5" name="Shape 3"/>
          <p:cNvSpPr/>
          <p:nvPr/>
        </p:nvSpPr>
        <p:spPr>
          <a:xfrm>
            <a:off x="6324600" y="1524000"/>
            <a:ext cx="4953000" cy="3810000"/>
          </a:xfrm>
          <a:prstGeom prst="roundRect">
            <a:avLst>
              <a:gd name="adj" fmla="val 2667"/>
            </a:avLst>
          </a:prstGeom>
          <a:solidFill>
            <a:srgbClr val="E3E7EE"/>
          </a:solidFill>
          <a:ln/>
        </p:spPr>
      </p:sp>
      <p:pic>
        <p:nvPicPr>
          <p:cNvPr id="6" name="Image 0" descr="EKS cluster overview in the AWS console">    </p:cNvPr>
          <p:cNvPicPr>
            <a:picLocks noChangeAspect="1"/>
          </p:cNvPicPr>
          <p:nvPr/>
        </p:nvPicPr>
        <p:blipFill>
          <a:blip r:embed="rId1"/>
          <a:stretch>
            <a:fillRect/>
          </a:stretch>
        </p:blipFill>
        <p:spPr>
          <a:xfrm>
            <a:off x="6324600" y="2613865"/>
            <a:ext cx="4953000" cy="163027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4213D"/>
                </a:solidFill>
                <a:latin typeface="IBM Plex Sans" pitchFamily="34" charset="0"/>
                <a:ea typeface="IBM Plex Sans" pitchFamily="34" charset="-122"/>
                <a:cs typeface="IBM Plex Sans" pitchFamily="34" charset="-120"/>
              </a:rPr>
              <a:t>One Helm chart deploys the whole app</a:t>
            </a:r>
            <a:endParaRPr lang="en-US" sz="3600" dirty="0"/>
          </a:p>
        </p:txBody>
      </p:sp>
      <p:sp>
        <p:nvSpPr>
          <p:cNvPr id="3" name="Shape 1"/>
          <p:cNvSpPr/>
          <p:nvPr/>
        </p:nvSpPr>
        <p:spPr>
          <a:xfrm>
            <a:off x="819150" y="1649710"/>
            <a:ext cx="3390900" cy="1498550"/>
          </a:xfrm>
          <a:prstGeom prst="roundRect">
            <a:avLst>
              <a:gd name="adj" fmla="val 6356"/>
            </a:avLst>
          </a:prstGeom>
          <a:solidFill>
            <a:srgbClr val="FFFFFF"/>
          </a:solidFill>
          <a:ln w="12700">
            <a:solidFill>
              <a:srgbClr val="D5DBE5"/>
            </a:solidFill>
            <a:prstDash val="solid"/>
          </a:ln>
        </p:spPr>
      </p:sp>
      <p:sp>
        <p:nvSpPr>
          <p:cNvPr id="4" name="Text 2"/>
          <p:cNvSpPr/>
          <p:nvPr/>
        </p:nvSpPr>
        <p:spPr>
          <a:xfrm>
            <a:off x="1054100" y="1884660"/>
            <a:ext cx="300863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Workloads</a:t>
            </a:r>
            <a:endParaRPr lang="en-US" sz="1700" dirty="0"/>
          </a:p>
        </p:txBody>
      </p:sp>
      <p:sp>
        <p:nvSpPr>
          <p:cNvPr id="5" name="Text 3"/>
          <p:cNvSpPr/>
          <p:nvPr/>
        </p:nvSpPr>
        <p:spPr>
          <a:xfrm>
            <a:off x="1054100" y="2219920"/>
            <a:ext cx="3008630"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Backend and frontend Deployments with startup, readiness and liveness probes</a:t>
            </a:r>
            <a:endParaRPr lang="en-US" sz="1300" dirty="0"/>
          </a:p>
        </p:txBody>
      </p:sp>
      <p:sp>
        <p:nvSpPr>
          <p:cNvPr id="6" name="Shape 4"/>
          <p:cNvSpPr/>
          <p:nvPr/>
        </p:nvSpPr>
        <p:spPr>
          <a:xfrm>
            <a:off x="4400550" y="1649710"/>
            <a:ext cx="3390900" cy="1498550"/>
          </a:xfrm>
          <a:prstGeom prst="roundRect">
            <a:avLst>
              <a:gd name="adj" fmla="val 6356"/>
            </a:avLst>
          </a:prstGeom>
          <a:solidFill>
            <a:srgbClr val="FFFFFF"/>
          </a:solidFill>
          <a:ln w="12700">
            <a:solidFill>
              <a:srgbClr val="D5DBE5"/>
            </a:solidFill>
            <a:prstDash val="solid"/>
          </a:ln>
        </p:spPr>
      </p:sp>
      <p:sp>
        <p:nvSpPr>
          <p:cNvPr id="7" name="Text 5"/>
          <p:cNvSpPr/>
          <p:nvPr/>
        </p:nvSpPr>
        <p:spPr>
          <a:xfrm>
            <a:off x="4635500" y="1884660"/>
            <a:ext cx="300863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Data</a:t>
            </a:r>
            <a:endParaRPr lang="en-US" sz="1700" dirty="0"/>
          </a:p>
        </p:txBody>
      </p:sp>
      <p:sp>
        <p:nvSpPr>
          <p:cNvPr id="8" name="Text 6"/>
          <p:cNvSpPr/>
          <p:nvPr/>
        </p:nvSpPr>
        <p:spPr>
          <a:xfrm>
            <a:off x="4635500" y="2219920"/>
            <a:ext cx="300863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PostgreSQL StatefulSet with a persistent EBS volume</a:t>
            </a:r>
            <a:endParaRPr lang="en-US" sz="1300" dirty="0"/>
          </a:p>
        </p:txBody>
      </p:sp>
      <p:sp>
        <p:nvSpPr>
          <p:cNvPr id="9" name="Shape 7"/>
          <p:cNvSpPr/>
          <p:nvPr/>
        </p:nvSpPr>
        <p:spPr>
          <a:xfrm>
            <a:off x="7981950" y="1649710"/>
            <a:ext cx="3390900" cy="1498550"/>
          </a:xfrm>
          <a:prstGeom prst="roundRect">
            <a:avLst>
              <a:gd name="adj" fmla="val 6356"/>
            </a:avLst>
          </a:prstGeom>
          <a:solidFill>
            <a:srgbClr val="FFFFFF"/>
          </a:solidFill>
          <a:ln w="12700">
            <a:solidFill>
              <a:srgbClr val="D5DBE5"/>
            </a:solidFill>
            <a:prstDash val="solid"/>
          </a:ln>
        </p:spPr>
      </p:sp>
      <p:sp>
        <p:nvSpPr>
          <p:cNvPr id="10" name="Text 8"/>
          <p:cNvSpPr/>
          <p:nvPr/>
        </p:nvSpPr>
        <p:spPr>
          <a:xfrm>
            <a:off x="8216900" y="1884660"/>
            <a:ext cx="300863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Migrations</a:t>
            </a:r>
            <a:endParaRPr lang="en-US" sz="1700" dirty="0"/>
          </a:p>
        </p:txBody>
      </p:sp>
      <p:sp>
        <p:nvSpPr>
          <p:cNvPr id="11" name="Text 9"/>
          <p:cNvSpPr/>
          <p:nvPr/>
        </p:nvSpPr>
        <p:spPr>
          <a:xfrm>
            <a:off x="8216900" y="2219920"/>
            <a:ext cx="300863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Helm-hook Job runs Alembic once per release, so replicas never race</a:t>
            </a:r>
            <a:endParaRPr lang="en-US" sz="1300" dirty="0"/>
          </a:p>
        </p:txBody>
      </p:sp>
      <p:sp>
        <p:nvSpPr>
          <p:cNvPr id="12" name="Shape 10"/>
          <p:cNvSpPr/>
          <p:nvPr/>
        </p:nvSpPr>
        <p:spPr>
          <a:xfrm>
            <a:off x="819150" y="3338761"/>
            <a:ext cx="3390900" cy="1267420"/>
          </a:xfrm>
          <a:prstGeom prst="roundRect">
            <a:avLst>
              <a:gd name="adj" fmla="val 7515"/>
            </a:avLst>
          </a:prstGeom>
          <a:solidFill>
            <a:srgbClr val="FFFFFF"/>
          </a:solidFill>
          <a:ln w="12700">
            <a:solidFill>
              <a:srgbClr val="D5DBE5"/>
            </a:solidFill>
            <a:prstDash val="solid"/>
          </a:ln>
        </p:spPr>
      </p:sp>
      <p:sp>
        <p:nvSpPr>
          <p:cNvPr id="13" name="Text 11"/>
          <p:cNvSpPr/>
          <p:nvPr/>
        </p:nvSpPr>
        <p:spPr>
          <a:xfrm>
            <a:off x="1054100" y="3573711"/>
            <a:ext cx="300863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Routing</a:t>
            </a:r>
            <a:endParaRPr lang="en-US" sz="1700" dirty="0"/>
          </a:p>
        </p:txBody>
      </p:sp>
      <p:sp>
        <p:nvSpPr>
          <p:cNvPr id="14" name="Text 12"/>
          <p:cNvSpPr/>
          <p:nvPr/>
        </p:nvSpPr>
        <p:spPr>
          <a:xfrm>
            <a:off x="1054100" y="3908971"/>
            <a:ext cx="300863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ClusterIP Services plus an Ingress for / and /api</a:t>
            </a:r>
            <a:endParaRPr lang="en-US" sz="1300" dirty="0"/>
          </a:p>
        </p:txBody>
      </p:sp>
      <p:sp>
        <p:nvSpPr>
          <p:cNvPr id="15" name="Shape 13"/>
          <p:cNvSpPr/>
          <p:nvPr/>
        </p:nvSpPr>
        <p:spPr>
          <a:xfrm>
            <a:off x="4400550" y="3338761"/>
            <a:ext cx="3390900" cy="1267420"/>
          </a:xfrm>
          <a:prstGeom prst="roundRect">
            <a:avLst>
              <a:gd name="adj" fmla="val 7515"/>
            </a:avLst>
          </a:prstGeom>
          <a:solidFill>
            <a:srgbClr val="FFFFFF"/>
          </a:solidFill>
          <a:ln w="12700">
            <a:solidFill>
              <a:srgbClr val="D5DBE5"/>
            </a:solidFill>
            <a:prstDash val="solid"/>
          </a:ln>
        </p:spPr>
      </p:sp>
      <p:sp>
        <p:nvSpPr>
          <p:cNvPr id="16" name="Text 14"/>
          <p:cNvSpPr/>
          <p:nvPr/>
        </p:nvSpPr>
        <p:spPr>
          <a:xfrm>
            <a:off x="4635500" y="3573711"/>
            <a:ext cx="300863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Resilience</a:t>
            </a:r>
            <a:endParaRPr lang="en-US" sz="1700" dirty="0"/>
          </a:p>
        </p:txBody>
      </p:sp>
      <p:sp>
        <p:nvSpPr>
          <p:cNvPr id="17" name="Text 15"/>
          <p:cNvSpPr/>
          <p:nvPr/>
        </p:nvSpPr>
        <p:spPr>
          <a:xfrm>
            <a:off x="4635500" y="3908971"/>
            <a:ext cx="300863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HPA 2 → 8 pods and PodDisruptionBudgets</a:t>
            </a:r>
            <a:endParaRPr lang="en-US" sz="1300" dirty="0"/>
          </a:p>
        </p:txBody>
      </p:sp>
      <p:sp>
        <p:nvSpPr>
          <p:cNvPr id="18" name="Shape 16"/>
          <p:cNvSpPr/>
          <p:nvPr/>
        </p:nvSpPr>
        <p:spPr>
          <a:xfrm>
            <a:off x="7981950" y="3338761"/>
            <a:ext cx="3390900" cy="1267420"/>
          </a:xfrm>
          <a:prstGeom prst="roundRect">
            <a:avLst>
              <a:gd name="adj" fmla="val 7515"/>
            </a:avLst>
          </a:prstGeom>
          <a:solidFill>
            <a:srgbClr val="FFFFFF"/>
          </a:solidFill>
          <a:ln w="12700">
            <a:solidFill>
              <a:srgbClr val="D5DBE5"/>
            </a:solidFill>
            <a:prstDash val="solid"/>
          </a:ln>
        </p:spPr>
      </p:sp>
      <p:sp>
        <p:nvSpPr>
          <p:cNvPr id="19" name="Text 17"/>
          <p:cNvSpPr/>
          <p:nvPr/>
        </p:nvSpPr>
        <p:spPr>
          <a:xfrm>
            <a:off x="8216900" y="3573711"/>
            <a:ext cx="300863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Monitoring</a:t>
            </a:r>
            <a:endParaRPr lang="en-US" sz="1700" dirty="0"/>
          </a:p>
        </p:txBody>
      </p:sp>
      <p:sp>
        <p:nvSpPr>
          <p:cNvPr id="20" name="Text 18"/>
          <p:cNvSpPr/>
          <p:nvPr/>
        </p:nvSpPr>
        <p:spPr>
          <a:xfrm>
            <a:off x="8216900" y="3908971"/>
            <a:ext cx="300863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ServiceMonitor and a Grafana dashboard ConfigMap</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4213D"/>
                </a:solidFill>
                <a:latin typeface="IBM Plex Sans" pitchFamily="34" charset="0"/>
                <a:ea typeface="IBM Plex Sans" pitchFamily="34" charset="-122"/>
                <a:cs typeface="IBM Plex Sans" pitchFamily="34" charset="-120"/>
              </a:rPr>
              <a:t>Autoscaling and monitoring under load</a:t>
            </a:r>
            <a:endParaRPr lang="en-US" sz="3600" dirty="0"/>
          </a:p>
        </p:txBody>
      </p:sp>
      <p:sp>
        <p:nvSpPr>
          <p:cNvPr id="3" name="Shape 1"/>
          <p:cNvSpPr/>
          <p:nvPr/>
        </p:nvSpPr>
        <p:spPr>
          <a:xfrm>
            <a:off x="812800" y="1592560"/>
            <a:ext cx="5156200" cy="2921000"/>
          </a:xfrm>
          <a:prstGeom prst="roundRect">
            <a:avLst>
              <a:gd name="adj" fmla="val 3478"/>
            </a:avLst>
          </a:prstGeom>
          <a:solidFill>
            <a:srgbClr val="E3E7EE"/>
          </a:solidFill>
          <a:ln/>
        </p:spPr>
      </p:sp>
      <p:pic>
        <p:nvPicPr>
          <p:cNvPr id="4" name="Image 0" descr="HPA scaling the backend out under load">    </p:cNvPr>
          <p:cNvPicPr>
            <a:picLocks noChangeAspect="1"/>
          </p:cNvPicPr>
          <p:nvPr/>
        </p:nvPicPr>
        <p:blipFill>
          <a:blip r:embed="rId1"/>
          <a:stretch>
            <a:fillRect/>
          </a:stretch>
        </p:blipFill>
        <p:spPr>
          <a:xfrm>
            <a:off x="812800" y="1990515"/>
            <a:ext cx="5156200" cy="2125091"/>
          </a:xfrm>
          <a:prstGeom prst="rect">
            <a:avLst/>
          </a:prstGeom>
        </p:spPr>
      </p:pic>
      <p:sp>
        <p:nvSpPr>
          <p:cNvPr id="5" name="Text 2"/>
          <p:cNvSpPr/>
          <p:nvPr/>
        </p:nvSpPr>
        <p:spPr>
          <a:xfrm>
            <a:off x="812800" y="4615160"/>
            <a:ext cx="531088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HPA scales the backend out as CPU climbs</a:t>
            </a:r>
            <a:endParaRPr lang="en-US" sz="1400" dirty="0"/>
          </a:p>
        </p:txBody>
      </p:sp>
      <p:sp>
        <p:nvSpPr>
          <p:cNvPr id="6" name="Shape 3"/>
          <p:cNvSpPr/>
          <p:nvPr/>
        </p:nvSpPr>
        <p:spPr>
          <a:xfrm>
            <a:off x="6223000" y="1592560"/>
            <a:ext cx="5156200" cy="2921000"/>
          </a:xfrm>
          <a:prstGeom prst="roundRect">
            <a:avLst>
              <a:gd name="adj" fmla="val 3478"/>
            </a:avLst>
          </a:prstGeom>
          <a:solidFill>
            <a:srgbClr val="E3E7EE"/>
          </a:solidFill>
          <a:ln/>
        </p:spPr>
      </p:sp>
      <p:pic>
        <p:nvPicPr>
          <p:cNvPr id="7" name="Image 1" descr="Grafana MediSlot dashboard with live traffic">    </p:cNvPr>
          <p:cNvPicPr>
            <a:picLocks noChangeAspect="1"/>
          </p:cNvPicPr>
          <p:nvPr/>
        </p:nvPicPr>
        <p:blipFill>
          <a:blip r:embed="rId2"/>
          <a:stretch>
            <a:fillRect/>
          </a:stretch>
        </p:blipFill>
        <p:spPr>
          <a:xfrm>
            <a:off x="6769100" y="1592560"/>
            <a:ext cx="4064000" cy="2921000"/>
          </a:xfrm>
          <a:prstGeom prst="rect">
            <a:avLst/>
          </a:prstGeom>
        </p:spPr>
      </p:pic>
      <p:sp>
        <p:nvSpPr>
          <p:cNvPr id="8" name="Text 4"/>
          <p:cNvSpPr/>
          <p:nvPr/>
        </p:nvSpPr>
        <p:spPr>
          <a:xfrm>
            <a:off x="6223000" y="4615160"/>
            <a:ext cx="531088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Grafana: request rate, 5xx ratio, p95 latency, pods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5F0"/>
        </a:solidFill>
      </p:bgPr>
    </p:bg>
    <p:spTree>
      <p:nvGrpSpPr>
        <p:cNvPr id="1" name=""/>
        <p:cNvGrpSpPr/>
        <p:nvPr/>
      </p:nvGrpSpPr>
      <p:grpSpPr>
        <a:xfrm>
          <a:off x="0" y="0"/>
          <a:ext cx="0" cy="0"/>
          <a:chOff x="0" y="0"/>
          <a:chExt cx="0" cy="0"/>
        </a:xfrm>
      </p:grpSpPr>
      <p:sp>
        <p:nvSpPr>
          <p:cNvPr id="2" name="Text 0"/>
          <p:cNvSpPr/>
          <p:nvPr/>
        </p:nvSpPr>
        <p:spPr>
          <a:xfrm>
            <a:off x="812800" y="812800"/>
            <a:ext cx="5206238"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85C1E"/>
                </a:solidFill>
                <a:latin typeface="JetBrains Mono" pitchFamily="49" charset="0"/>
                <a:ea typeface="JetBrains Mono" pitchFamily="49" charset="-122"/>
                <a:cs typeface="JetBrains Mono" pitchFamily="49" charset="-120"/>
              </a:rPr>
              <a:t>TROUBLESHOOTING LAB</a:t>
            </a:r>
            <a:endParaRPr lang="en-US" sz="1300" dirty="0"/>
          </a:p>
        </p:txBody>
      </p:sp>
      <p:sp>
        <p:nvSpPr>
          <p:cNvPr id="3" name="Text 1"/>
          <p:cNvSpPr/>
          <p:nvPr/>
        </p:nvSpPr>
        <p:spPr>
          <a:xfrm>
            <a:off x="812800" y="1221730"/>
            <a:ext cx="5206238" cy="807641"/>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4213D"/>
                </a:solidFill>
                <a:latin typeface="IBM Plex Sans" pitchFamily="34" charset="0"/>
                <a:ea typeface="IBM Plex Sans" pitchFamily="34" charset="-122"/>
                <a:cs typeface="IBM Plex Sans" pitchFamily="34" charset="-120"/>
              </a:rPr>
              <a:t>Three broken manifests, diagnosed and fixed</a:t>
            </a:r>
            <a:endParaRPr lang="en-US" sz="2800" dirty="0"/>
          </a:p>
        </p:txBody>
      </p:sp>
      <p:sp>
        <p:nvSpPr>
          <p:cNvPr id="4" name="Text 2"/>
          <p:cNvSpPr/>
          <p:nvPr/>
        </p:nvSpPr>
        <p:spPr>
          <a:xfrm>
            <a:off x="883920" y="2181771"/>
            <a:ext cx="5127498" cy="1168400"/>
          </a:xfrm>
          <a:prstGeom prst="rect">
            <a:avLst/>
          </a:prstGeom>
          <a:noFill/>
          <a:ln/>
        </p:spPr>
        <p:txBody>
          <a:bodyPr wrap="square" lIns="0" tIns="0" rIns="0" bIns="0" rtlCol="0" anchor="t">
            <a:normAutofit/>
          </a:bodyPr>
          <a:lstStyle/>
          <a:p>
            <a:pPr algn="l" marL="182880" indent="-182880">
              <a:lnSpc>
                <a:spcPts val="2250"/>
              </a:lnSpc>
              <a:buSzPct val="100000"/>
              <a:buChar char="•"/>
            </a:pPr>
            <a:r>
              <a:rPr lang="en-US" sz="1500" dirty="0">
                <a:solidFill>
                  <a:srgbClr val="4A5568"/>
                </a:solidFill>
                <a:latin typeface="IBM Plex Sans" pitchFamily="34" charset="0"/>
                <a:ea typeface="IBM Plex Sans" pitchFamily="34" charset="-122"/>
                <a:cs typeface="IBM Plex Sans" pitchFamily="34" charset="-120"/>
              </a:rPr>
              <a:t>ImagePullBackOff</a:t>
            </a:r>
            <a:endParaRPr lang="en-US" sz="1500" dirty="0"/>
          </a:p>
          <a:p>
            <a:pPr algn="l" marL="182880" indent="-182880">
              <a:lnSpc>
                <a:spcPts val="2250"/>
              </a:lnSpc>
              <a:buSzPct val="100000"/>
              <a:buChar char="•"/>
            </a:pPr>
            <a:r>
              <a:rPr lang="en-US" sz="1500" dirty="0">
                <a:solidFill>
                  <a:srgbClr val="4A5568"/>
                </a:solidFill>
                <a:latin typeface="IBM Plex Sans" pitchFamily="34" charset="0"/>
                <a:ea typeface="IBM Plex Sans" pitchFamily="34" charset="-122"/>
                <a:cs typeface="IBM Plex Sans" pitchFamily="34" charset="-120"/>
              </a:rPr>
              <a:t>Service with no endpoints: wrong selector and targetPort</a:t>
            </a:r>
            <a:endParaRPr lang="en-US" sz="1500" dirty="0"/>
          </a:p>
          <a:p>
            <a:pPr algn="l" marL="182880" indent="-182880">
              <a:lnSpc>
                <a:spcPts val="2250"/>
              </a:lnSpc>
              <a:buSzPct val="100000"/>
              <a:buChar char="•"/>
            </a:pPr>
            <a:r>
              <a:rPr lang="en-US" sz="1500" dirty="0">
                <a:solidFill>
                  <a:srgbClr val="4A5568"/>
                </a:solidFill>
                <a:latin typeface="IBM Plex Sans" pitchFamily="34" charset="0"/>
                <a:ea typeface="IBM Plex Sans" pitchFamily="34" charset="-122"/>
                <a:cs typeface="IBM Plex Sans" pitchFamily="34" charset="-120"/>
              </a:rPr>
              <a:t>CrashLoopBackOff from a bad DATABASE_URL</a:t>
            </a:r>
            <a:endParaRPr lang="en-US" sz="1500" dirty="0"/>
          </a:p>
        </p:txBody>
      </p:sp>
      <p:sp>
        <p:nvSpPr>
          <p:cNvPr id="5" name="Text 3"/>
          <p:cNvSpPr/>
          <p:nvPr/>
        </p:nvSpPr>
        <p:spPr>
          <a:xfrm>
            <a:off x="6324600" y="812800"/>
            <a:ext cx="5206238"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85C1E"/>
                </a:solidFill>
                <a:latin typeface="JetBrains Mono" pitchFamily="49" charset="0"/>
                <a:ea typeface="JetBrains Mono" pitchFamily="49" charset="-122"/>
                <a:cs typeface="JetBrains Mono" pitchFamily="49" charset="-120"/>
              </a:rPr>
              <a:t>CLEAN TEARDOWN</a:t>
            </a:r>
            <a:endParaRPr lang="en-US" sz="1300" dirty="0"/>
          </a:p>
        </p:txBody>
      </p:sp>
      <p:sp>
        <p:nvSpPr>
          <p:cNvPr id="6" name="Text 4"/>
          <p:cNvSpPr/>
          <p:nvPr/>
        </p:nvSpPr>
        <p:spPr>
          <a:xfrm>
            <a:off x="6324600" y="1221730"/>
            <a:ext cx="5206238" cy="807641"/>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4213D"/>
                </a:solidFill>
                <a:latin typeface="IBM Plex Sans" pitchFamily="34" charset="0"/>
                <a:ea typeface="IBM Plex Sans" pitchFamily="34" charset="-122"/>
                <a:cs typeface="IBM Plex Sans" pitchFamily="34" charset="-120"/>
              </a:rPr>
              <a:t>Order matters to avoid stuck resources</a:t>
            </a:r>
            <a:endParaRPr lang="en-US" sz="2800" dirty="0"/>
          </a:p>
        </p:txBody>
      </p:sp>
      <p:sp>
        <p:nvSpPr>
          <p:cNvPr id="7" name="Text 5"/>
          <p:cNvSpPr/>
          <p:nvPr/>
        </p:nvSpPr>
        <p:spPr>
          <a:xfrm>
            <a:off x="6324600" y="2181771"/>
            <a:ext cx="5206238" cy="8826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4A5568"/>
                </a:solidFill>
                <a:latin typeface="IBM Plex Sans" pitchFamily="34" charset="0"/>
                <a:ea typeface="IBM Plex Sans" pitchFamily="34" charset="-122"/>
                <a:cs typeface="IBM Plex Sans" pitchFamily="34" charset="-120"/>
              </a:rPr>
              <a:t>Uninstall ingress-nginx and delete PVCs </a:t>
            </a:r>
            <a:r>
              <a:rPr lang="en-US" sz="1500" b="1" dirty="0">
                <a:solidFill>
                  <a:srgbClr val="4A5568"/>
                </a:solidFill>
                <a:latin typeface="IBM Plex Sans" pitchFamily="34" charset="0"/>
                <a:ea typeface="IBM Plex Sans" pitchFamily="34" charset="-122"/>
                <a:cs typeface="IBM Plex Sans" pitchFamily="34" charset="-120"/>
              </a:rPr>
              <a:t>before</a:t>
            </a:r>
            <a:r>
              <a:rPr lang="en-US" sz="1500" dirty="0">
                <a:solidFill>
                  <a:srgbClr val="4A5568"/>
                </a:solidFill>
                <a:latin typeface="IBM Plex Sans" pitchFamily="34" charset="0"/>
                <a:ea typeface="IBM Plex Sans" pitchFamily="34" charset="-122"/>
                <a:cs typeface="IBM Plex Sans" pitchFamily="34" charset="-120"/>
              </a:rPr>
              <a:t> terraform destroy: the NLB and EBS volume are created by Kubernetes, not Terraform, and would block VPC deletion.</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B85C1E"/>
        </a:solidFill>
      </p:bgPr>
    </p:bg>
    <p:spTree>
      <p:nvGrpSpPr>
        <p:cNvPr id="1" name=""/>
        <p:cNvGrpSpPr/>
        <p:nvPr/>
      </p:nvGrpSpPr>
      <p:grpSpPr>
        <a:xfrm>
          <a:off x="0" y="0"/>
          <a:ext cx="0" cy="0"/>
          <a:chOff x="0" y="0"/>
          <a:chExt cx="0" cy="0"/>
        </a:xfrm>
      </p:grpSpPr>
      <p:sp>
        <p:nvSpPr>
          <p:cNvPr id="2" name="Text 0"/>
          <p:cNvSpPr/>
          <p:nvPr>
            <p:ph type="title"/>
          </p:nvPr>
        </p:nvSpPr>
        <p:spPr>
          <a:xfrm>
            <a:off x="812800" y="1826270"/>
            <a:ext cx="10883392" cy="11430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FBF6F0"/>
                </a:solidFill>
                <a:latin typeface="IBM Plex Sans" pitchFamily="34" charset="0"/>
                <a:ea typeface="IBM Plex Sans" pitchFamily="34" charset="-122"/>
                <a:cs typeface="IBM Plex Sans" pitchFamily="34" charset="-120"/>
              </a:rPr>
              <a:t>Every running pod traces back to an exact commit</a:t>
            </a:r>
            <a:endParaRPr lang="en-US" sz="4000" dirty="0"/>
          </a:p>
        </p:txBody>
      </p:sp>
      <p:sp>
        <p:nvSpPr>
          <p:cNvPr id="3" name="Text 1"/>
          <p:cNvSpPr/>
          <p:nvPr/>
        </p:nvSpPr>
        <p:spPr>
          <a:xfrm>
            <a:off x="812800" y="3299470"/>
            <a:ext cx="1356221" cy="878830"/>
          </a:xfrm>
          <a:prstGeom prst="rect">
            <a:avLst/>
          </a:prstGeom>
          <a:noFill/>
          <a:ln/>
        </p:spPr>
        <p:txBody>
          <a:bodyPr wrap="square" lIns="0" tIns="0" rIns="0" bIns="0" rtlCol="0" anchor="t">
            <a:normAutofit/>
          </a:bodyPr>
          <a:lstStyle/>
          <a:p>
            <a:pPr algn="l" indent="0" marL="0">
              <a:lnSpc>
                <a:spcPts val="6720"/>
              </a:lnSpc>
              <a:buNone/>
            </a:pPr>
            <a:r>
              <a:rPr lang="en-US" sz="4800" b="1" dirty="0">
                <a:solidFill>
                  <a:srgbClr val="FBF6F0"/>
                </a:solidFill>
                <a:latin typeface="IBM Plex Sans" pitchFamily="34" charset="0"/>
                <a:ea typeface="IBM Plex Sans" pitchFamily="34" charset="-122"/>
                <a:cs typeface="IBM Plex Sans" pitchFamily="34" charset="-120"/>
              </a:rPr>
              <a:t>28</a:t>
            </a:r>
            <a:endParaRPr lang="en-US" sz="4800" dirty="0"/>
          </a:p>
        </p:txBody>
      </p:sp>
      <p:sp>
        <p:nvSpPr>
          <p:cNvPr id="4" name="Text 2"/>
          <p:cNvSpPr/>
          <p:nvPr/>
        </p:nvSpPr>
        <p:spPr>
          <a:xfrm>
            <a:off x="812800" y="4178300"/>
            <a:ext cx="1566505"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BF6F0"/>
                </a:solidFill>
                <a:latin typeface="IBM Plex Sans" pitchFamily="34" charset="0"/>
                <a:ea typeface="IBM Plex Sans" pitchFamily="34" charset="-122"/>
                <a:cs typeface="IBM Plex Sans" pitchFamily="34" charset="-120"/>
              </a:rPr>
              <a:t>automated tests</a:t>
            </a:r>
            <a:endParaRPr lang="en-US" sz="1400" dirty="0"/>
          </a:p>
        </p:txBody>
      </p:sp>
      <p:sp>
        <p:nvSpPr>
          <p:cNvPr id="5" name="Text 3"/>
          <p:cNvSpPr/>
          <p:nvPr/>
        </p:nvSpPr>
        <p:spPr>
          <a:xfrm>
            <a:off x="2524621" y="3299470"/>
            <a:ext cx="1095226" cy="878830"/>
          </a:xfrm>
          <a:prstGeom prst="rect">
            <a:avLst/>
          </a:prstGeom>
          <a:noFill/>
          <a:ln/>
        </p:spPr>
        <p:txBody>
          <a:bodyPr wrap="square" lIns="0" tIns="0" rIns="0" bIns="0" rtlCol="0" anchor="t">
            <a:normAutofit/>
          </a:bodyPr>
          <a:lstStyle/>
          <a:p>
            <a:pPr algn="l" indent="0" marL="0">
              <a:lnSpc>
                <a:spcPts val="6720"/>
              </a:lnSpc>
              <a:buNone/>
            </a:pPr>
            <a:r>
              <a:rPr lang="en-US" sz="4800" b="1" dirty="0">
                <a:solidFill>
                  <a:srgbClr val="FBF6F0"/>
                </a:solidFill>
                <a:latin typeface="IBM Plex Sans" pitchFamily="34" charset="0"/>
                <a:ea typeface="IBM Plex Sans" pitchFamily="34" charset="-122"/>
                <a:cs typeface="IBM Plex Sans" pitchFamily="34" charset="-120"/>
              </a:rPr>
              <a:t>0</a:t>
            </a:r>
            <a:endParaRPr lang="en-US" sz="4800" dirty="0"/>
          </a:p>
        </p:txBody>
      </p:sp>
      <p:sp>
        <p:nvSpPr>
          <p:cNvPr id="6" name="Text 4"/>
          <p:cNvSpPr/>
          <p:nvPr/>
        </p:nvSpPr>
        <p:spPr>
          <a:xfrm>
            <a:off x="2524621" y="4178300"/>
            <a:ext cx="1253311"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BF6F0"/>
                </a:solidFill>
                <a:latin typeface="IBM Plex Sans" pitchFamily="34" charset="0"/>
                <a:ea typeface="IBM Plex Sans" pitchFamily="34" charset="-122"/>
                <a:cs typeface="IBM Plex Sans" pitchFamily="34" charset="-120"/>
              </a:rPr>
              <a:t>secrets in Git</a:t>
            </a:r>
            <a:endParaRPr lang="en-US" sz="1400" dirty="0"/>
          </a:p>
        </p:txBody>
      </p:sp>
      <p:sp>
        <p:nvSpPr>
          <p:cNvPr id="7" name="Text 5"/>
          <p:cNvSpPr/>
          <p:nvPr/>
        </p:nvSpPr>
        <p:spPr>
          <a:xfrm>
            <a:off x="3975447" y="3299470"/>
            <a:ext cx="2094544" cy="878830"/>
          </a:xfrm>
          <a:prstGeom prst="rect">
            <a:avLst/>
          </a:prstGeom>
          <a:noFill/>
          <a:ln/>
        </p:spPr>
        <p:txBody>
          <a:bodyPr wrap="square" lIns="0" tIns="0" rIns="0" bIns="0" rtlCol="0" anchor="t">
            <a:normAutofit/>
          </a:bodyPr>
          <a:lstStyle/>
          <a:p>
            <a:pPr algn="l" indent="0" marL="0">
              <a:lnSpc>
                <a:spcPts val="6720"/>
              </a:lnSpc>
              <a:buNone/>
            </a:pPr>
            <a:r>
              <a:rPr lang="en-US" sz="4800" b="1" dirty="0">
                <a:solidFill>
                  <a:srgbClr val="FBF6F0"/>
                </a:solidFill>
                <a:latin typeface="IBM Plex Sans" pitchFamily="34" charset="0"/>
                <a:ea typeface="IBM Plex Sans" pitchFamily="34" charset="-122"/>
                <a:cs typeface="IBM Plex Sans" pitchFamily="34" charset="-120"/>
              </a:rPr>
              <a:t>2–8</a:t>
            </a:r>
            <a:endParaRPr lang="en-US" sz="4800" dirty="0"/>
          </a:p>
        </p:txBody>
      </p:sp>
      <p:sp>
        <p:nvSpPr>
          <p:cNvPr id="8" name="Text 6"/>
          <p:cNvSpPr/>
          <p:nvPr/>
        </p:nvSpPr>
        <p:spPr>
          <a:xfrm>
            <a:off x="3975447" y="4178300"/>
            <a:ext cx="243993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BF6F0"/>
                </a:solidFill>
                <a:latin typeface="IBM Plex Sans" pitchFamily="34" charset="0"/>
                <a:ea typeface="IBM Plex Sans" pitchFamily="34" charset="-122"/>
                <a:cs typeface="IBM Plex Sans" pitchFamily="34" charset="-120"/>
              </a:rPr>
              <a:t>autoscaled backend pods</a:t>
            </a:r>
            <a:endParaRPr lang="en-US" sz="1400" dirty="0"/>
          </a:p>
        </p:txBody>
      </p:sp>
      <p:sp>
        <p:nvSpPr>
          <p:cNvPr id="9" name="Text 7"/>
          <p:cNvSpPr/>
          <p:nvPr/>
        </p:nvSpPr>
        <p:spPr>
          <a:xfrm>
            <a:off x="6415385" y="3299470"/>
            <a:ext cx="1227336" cy="878830"/>
          </a:xfrm>
          <a:prstGeom prst="rect">
            <a:avLst/>
          </a:prstGeom>
          <a:noFill/>
          <a:ln/>
        </p:spPr>
        <p:txBody>
          <a:bodyPr wrap="square" lIns="0" tIns="0" rIns="0" bIns="0" rtlCol="0" anchor="t">
            <a:normAutofit/>
          </a:bodyPr>
          <a:lstStyle/>
          <a:p>
            <a:pPr algn="l" indent="0" marL="0">
              <a:lnSpc>
                <a:spcPts val="6720"/>
              </a:lnSpc>
              <a:buNone/>
            </a:pPr>
            <a:r>
              <a:rPr lang="en-US" sz="4800" b="1" dirty="0">
                <a:solidFill>
                  <a:srgbClr val="FBF6F0"/>
                </a:solidFill>
                <a:latin typeface="IBM Plex Sans" pitchFamily="34" charset="0"/>
                <a:ea typeface="IBM Plex Sans" pitchFamily="34" charset="-122"/>
                <a:cs typeface="IBM Plex Sans" pitchFamily="34" charset="-120"/>
              </a:rPr>
              <a:t>1</a:t>
            </a:r>
            <a:endParaRPr lang="en-US" sz="4800" dirty="0"/>
          </a:p>
        </p:txBody>
      </p:sp>
      <p:sp>
        <p:nvSpPr>
          <p:cNvPr id="10" name="Text 8"/>
          <p:cNvSpPr/>
          <p:nvPr/>
        </p:nvSpPr>
        <p:spPr>
          <a:xfrm>
            <a:off x="6415385" y="4178300"/>
            <a:ext cx="141184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BF6F0"/>
                </a:solidFill>
                <a:latin typeface="IBM Plex Sans" pitchFamily="34" charset="0"/>
                <a:ea typeface="IBM Plex Sans" pitchFamily="34" charset="-122"/>
                <a:cs typeface="IBM Plex Sans" pitchFamily="34" charset="-120"/>
              </a:rPr>
              <a:t>push to deploy</a:t>
            </a:r>
            <a:endParaRPr lang="en-US" sz="1400" dirty="0"/>
          </a:p>
        </p:txBody>
      </p:sp>
      <p:sp>
        <p:nvSpPr>
          <p:cNvPr id="11" name="Text 9"/>
          <p:cNvSpPr/>
          <p:nvPr/>
        </p:nvSpPr>
        <p:spPr>
          <a:xfrm>
            <a:off x="812800" y="478279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BF6F0"/>
                </a:solidFill>
                <a:latin typeface="JetBrains Mono" pitchFamily="49" charset="0"/>
                <a:ea typeface="JetBrains Mono" pitchFamily="49" charset="-122"/>
                <a:cs typeface="JetBrains Mono" pitchFamily="49" charset="-120"/>
              </a:rPr>
              <a:t>ghcr.io/heavycoderyash/medislot-backend:&lt;sha&gt;</a:t>
            </a:r>
            <a:endParaRPr lang="en-US" sz="1400" dirty="0"/>
          </a:p>
        </p:txBody>
      </p:sp>
    </p:spTree>
  </p:cSld>
  <p:clrMapOvr>
    <a:masterClrMapping/>
  </p:clrMapOvr>
</p:sld>
</file>

<file path=ppt/theme/theme1.xml><?xml version="1.0" encoding="utf-8"?>
<a:theme xmlns:a="http://schemas.openxmlformats.org/drawingml/2006/main" name="MediSlot DevOps Capstone">
  <a:themeElements>
    <a:clrScheme name="MediSlot DevOps Capstone">
      <a:dk1>
        <a:srgbClr val="14213D"/>
      </a:dk1>
      <a:lt1>
        <a:srgbClr val="F4F5F0"/>
      </a:lt1>
      <a:dk2>
        <a:srgbClr val="4C566A"/>
      </a:dk2>
      <a:lt2>
        <a:srgbClr val="DEE0DE"/>
      </a:lt2>
      <a:accent1>
        <a:srgbClr val="B85C1E"/>
      </a:accent1>
      <a:accent2>
        <a:srgbClr val="F2A65A"/>
      </a:accent2>
      <a:accent3>
        <a:srgbClr val="4A5568"/>
      </a:accent3>
      <a:accent4>
        <a:srgbClr val="C9D3E3"/>
      </a:accent4>
      <a:accent5>
        <a:srgbClr val="9AA8C0"/>
      </a:accent5>
      <a:accent6>
        <a:srgbClr val="9AA0A6"/>
      </a:accent6>
      <a:hlink>
        <a:srgbClr val="0563C1"/>
      </a:hlink>
      <a:folHlink>
        <a:srgbClr val="954F72"/>
      </a:folHlink>
    </a:clrScheme>
    <a:fontScheme name="MediSlot DevOps Capstone">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MediSlot DevOps Capstone</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2026-10-21T08:31:24Z</dcterms:created>
  <dcterms:modified xsi:type="dcterms:W3CDTF">2026-10-21T08:31:24Z</dcterms:modified>
</cp:coreProperties>
</file>